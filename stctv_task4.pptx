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5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6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0F63"/>
    <a:srgbClr val="FF2D6C"/>
    <a:srgbClr val="D8DE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2BE76-A04A-4294-8CA7-259091113F45}" v="1" dt="2026-08-23T11:59:39.726"/>
    <p1510:client id="{9FD436A5-23A4-460E-86C1-DB3D231CC7AB}" v="81" dt="2026-08-24T10:43:16.7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ray Turki" userId="fb0f979a1f45c4b9" providerId="LiveId" clId="{8D7F7B21-CDB5-46B0-AADC-C5ED95D5552E}"/>
    <pc:docChg chg="undo custSel modSld">
      <pc:chgData name="stray Turki" userId="fb0f979a1f45c4b9" providerId="LiveId" clId="{8D7F7B21-CDB5-46B0-AADC-C5ED95D5552E}" dt="2026-08-24T10:51:22.434" v="672" actId="20577"/>
      <pc:docMkLst>
        <pc:docMk/>
      </pc:docMkLst>
      <pc:sldChg chg="modSp mod">
        <pc:chgData name="stray Turki" userId="fb0f979a1f45c4b9" providerId="LiveId" clId="{8D7F7B21-CDB5-46B0-AADC-C5ED95D5552E}" dt="2026-08-24T09:57:28.836" v="42" actId="20577"/>
        <pc:sldMkLst>
          <pc:docMk/>
          <pc:sldMk cId="0" sldId="257"/>
        </pc:sldMkLst>
        <pc:spChg chg="mod">
          <ac:chgData name="stray Turki" userId="fb0f979a1f45c4b9" providerId="LiveId" clId="{8D7F7B21-CDB5-46B0-AADC-C5ED95D5552E}" dt="2026-08-24T08:39:53.967" v="1" actId="20577"/>
          <ac:spMkLst>
            <pc:docMk/>
            <pc:sldMk cId="0" sldId="257"/>
            <ac:spMk id="8" creationId="{00000000-0000-0000-0000-000000000000}"/>
          </ac:spMkLst>
        </pc:spChg>
        <pc:graphicFrameChg chg="mod">
          <ac:chgData name="stray Turki" userId="fb0f979a1f45c4b9" providerId="LiveId" clId="{8D7F7B21-CDB5-46B0-AADC-C5ED95D5552E}" dt="2026-08-24T09:53:15.839" v="20" actId="20577"/>
          <ac:graphicFrameMkLst>
            <pc:docMk/>
            <pc:sldMk cId="0" sldId="257"/>
            <ac:graphicFrameMk id="27" creationId="{76E4F73A-3308-804C-2CC4-A8CD456FBF97}"/>
          </ac:graphicFrameMkLst>
        </pc:graphicFrameChg>
        <pc:graphicFrameChg chg="mod">
          <ac:chgData name="stray Turki" userId="fb0f979a1f45c4b9" providerId="LiveId" clId="{8D7F7B21-CDB5-46B0-AADC-C5ED95D5552E}" dt="2026-08-24T09:57:28.836" v="42" actId="20577"/>
          <ac:graphicFrameMkLst>
            <pc:docMk/>
            <pc:sldMk cId="0" sldId="257"/>
            <ac:graphicFrameMk id="29" creationId="{31882C40-6564-A9C5-83E3-1EAAAC12E19E}"/>
          </ac:graphicFrameMkLst>
        </pc:graphicFrameChg>
      </pc:sldChg>
      <pc:sldChg chg="modSp mod">
        <pc:chgData name="stray Turki" userId="fb0f979a1f45c4b9" providerId="LiveId" clId="{8D7F7B21-CDB5-46B0-AADC-C5ED95D5552E}" dt="2026-08-24T10:51:22.434" v="672" actId="20577"/>
        <pc:sldMkLst>
          <pc:docMk/>
          <pc:sldMk cId="0" sldId="258"/>
        </pc:sldMkLst>
        <pc:spChg chg="mod">
          <ac:chgData name="stray Turki" userId="fb0f979a1f45c4b9" providerId="LiveId" clId="{8D7F7B21-CDB5-46B0-AADC-C5ED95D5552E}" dt="2026-08-24T10:08:54.141" v="97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stray Turki" userId="fb0f979a1f45c4b9" providerId="LiveId" clId="{8D7F7B21-CDB5-46B0-AADC-C5ED95D5552E}" dt="2026-08-24T10:51:22.434" v="672" actId="20577"/>
          <ac:spMkLst>
            <pc:docMk/>
            <pc:sldMk cId="0" sldId="258"/>
            <ac:spMk id="9" creationId="{00000000-0000-0000-0000-000000000000}"/>
          </ac:spMkLst>
        </pc:spChg>
      </pc:sldChg>
      <pc:sldChg chg="addSp delSp modSp mod">
        <pc:chgData name="stray Turki" userId="fb0f979a1f45c4b9" providerId="LiveId" clId="{8D7F7B21-CDB5-46B0-AADC-C5ED95D5552E}" dt="2026-08-24T10:49:43.062" v="589" actId="1076"/>
        <pc:sldMkLst>
          <pc:docMk/>
          <pc:sldMk cId="0" sldId="259"/>
        </pc:sldMkLst>
        <pc:spChg chg="del mod">
          <ac:chgData name="stray Turki" userId="fb0f979a1f45c4b9" providerId="LiveId" clId="{8D7F7B21-CDB5-46B0-AADC-C5ED95D5552E}" dt="2026-08-24T10:24:41.221" v="127" actId="478"/>
          <ac:spMkLst>
            <pc:docMk/>
            <pc:sldMk cId="0" sldId="259"/>
            <ac:spMk id="8" creationId="{00000000-0000-0000-0000-000000000000}"/>
          </ac:spMkLst>
        </pc:spChg>
        <pc:spChg chg="add mod">
          <ac:chgData name="stray Turki" userId="fb0f979a1f45c4b9" providerId="LiveId" clId="{8D7F7B21-CDB5-46B0-AADC-C5ED95D5552E}" dt="2026-08-24T10:37:09.159" v="209" actId="207"/>
          <ac:spMkLst>
            <pc:docMk/>
            <pc:sldMk cId="0" sldId="259"/>
            <ac:spMk id="14" creationId="{FAB63F1E-C638-9F7B-ECBE-D1DB02CCB587}"/>
          </ac:spMkLst>
        </pc:spChg>
        <pc:spChg chg="add mod">
          <ac:chgData name="stray Turki" userId="fb0f979a1f45c4b9" providerId="LiveId" clId="{8D7F7B21-CDB5-46B0-AADC-C5ED95D5552E}" dt="2026-08-24T10:38:28.504" v="217" actId="207"/>
          <ac:spMkLst>
            <pc:docMk/>
            <pc:sldMk cId="0" sldId="259"/>
            <ac:spMk id="16" creationId="{D8414A51-AE9A-F125-D110-08DDEF63C930}"/>
          </ac:spMkLst>
        </pc:spChg>
        <pc:spChg chg="mod">
          <ac:chgData name="stray Turki" userId="fb0f979a1f45c4b9" providerId="LiveId" clId="{8D7F7B21-CDB5-46B0-AADC-C5ED95D5552E}" dt="2026-08-24T10:24:56.571" v="130" actId="14100"/>
          <ac:spMkLst>
            <pc:docMk/>
            <pc:sldMk cId="0" sldId="259"/>
            <ac:spMk id="22" creationId="{00000000-0000-0000-0000-000000000000}"/>
          </ac:spMkLst>
        </pc:spChg>
        <pc:spChg chg="mod">
          <ac:chgData name="stray Turki" userId="fb0f979a1f45c4b9" providerId="LiveId" clId="{8D7F7B21-CDB5-46B0-AADC-C5ED95D5552E}" dt="2026-08-24T10:24:56.571" v="130" actId="14100"/>
          <ac:spMkLst>
            <pc:docMk/>
            <pc:sldMk cId="0" sldId="259"/>
            <ac:spMk id="23" creationId="{00000000-0000-0000-0000-000000000000}"/>
          </ac:spMkLst>
        </pc:spChg>
        <pc:spChg chg="mod">
          <ac:chgData name="stray Turki" userId="fb0f979a1f45c4b9" providerId="LiveId" clId="{8D7F7B21-CDB5-46B0-AADC-C5ED95D5552E}" dt="2026-08-24T10:49:43.062" v="589" actId="1076"/>
          <ac:spMkLst>
            <pc:docMk/>
            <pc:sldMk cId="0" sldId="259"/>
            <ac:spMk id="24" creationId="{00000000-0000-0000-0000-000000000000}"/>
          </ac:spMkLst>
        </pc:spChg>
        <pc:graphicFrameChg chg="add del mod">
          <ac:chgData name="stray Turki" userId="fb0f979a1f45c4b9" providerId="LiveId" clId="{8D7F7B21-CDB5-46B0-AADC-C5ED95D5552E}" dt="2026-08-24T10:20:47.810" v="103" actId="478"/>
          <ac:graphicFrameMkLst>
            <pc:docMk/>
            <pc:sldMk cId="0" sldId="259"/>
            <ac:graphicFrameMk id="10" creationId="{FB5B4149-31FA-8A04-B7C2-958753D3C436}"/>
          </ac:graphicFrameMkLst>
        </pc:graphicFrameChg>
        <pc:graphicFrameChg chg="add mod">
          <ac:chgData name="stray Turki" userId="fb0f979a1f45c4b9" providerId="LiveId" clId="{8D7F7B21-CDB5-46B0-AADC-C5ED95D5552E}" dt="2026-08-24T10:38:09.421" v="215"/>
          <ac:graphicFrameMkLst>
            <pc:docMk/>
            <pc:sldMk cId="0" sldId="259"/>
            <ac:graphicFrameMk id="12" creationId="{5D988018-EA55-F382-2B8C-30711E7B95FA}"/>
          </ac:graphicFrameMkLst>
        </pc:graphicFrameChg>
        <pc:graphicFrameChg chg="mod">
          <ac:chgData name="stray Turki" userId="fb0f979a1f45c4b9" providerId="LiveId" clId="{8D7F7B21-CDB5-46B0-AADC-C5ED95D5552E}" dt="2026-08-24T10:43:16.703" v="245"/>
          <ac:graphicFrameMkLst>
            <pc:docMk/>
            <pc:sldMk cId="0" sldId="259"/>
            <ac:graphicFrameMk id="27" creationId="{2C9A2932-D4D7-EF36-5237-687A0967F8BC}"/>
          </ac:graphicFrameMkLst>
        </pc:graphicFrameChg>
      </pc:sldChg>
      <pc:sldChg chg="modSp mod">
        <pc:chgData name="stray Turki" userId="fb0f979a1f45c4b9" providerId="LiveId" clId="{8D7F7B21-CDB5-46B0-AADC-C5ED95D5552E}" dt="2026-08-24T08:40:10.469" v="7" actId="20577"/>
        <pc:sldMkLst>
          <pc:docMk/>
          <pc:sldMk cId="0" sldId="261"/>
        </pc:sldMkLst>
        <pc:spChg chg="mod">
          <ac:chgData name="stray Turki" userId="fb0f979a1f45c4b9" providerId="LiveId" clId="{8D7F7B21-CDB5-46B0-AADC-C5ED95D5552E}" dt="2026-08-24T08:40:10.469" v="7" actId="20577"/>
          <ac:spMkLst>
            <pc:docMk/>
            <pc:sldMk cId="0" sldId="261"/>
            <ac:spMk id="33" creationId="{9388FC59-A52A-02BA-4297-BDE4AF06A757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400" b="0" i="0" u="none" strike="noStrike" dirty="0">
                <a:solidFill>
                  <a:schemeClr val="bg1">
                    <a:lumMod val="95000"/>
                  </a:schemeClr>
                </a:solidFill>
                <a:latin typeface="Arial"/>
              </a:rPr>
              <a:t>Share of Viewers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Viewers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030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DEF-428D-8480-8996D6CCB7F2}"/>
              </c:ext>
            </c:extLst>
          </c:dPt>
          <c:dPt>
            <c:idx val="1"/>
            <c:bubble3D val="0"/>
            <c:spPr>
              <a:solidFill>
                <a:schemeClr val="bg1">
                  <a:lumMod val="95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DEF-428D-8480-8996D6CCB7F2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1300" b="1" i="0" u="none" strike="noStrike">
                        <a:solidFill>
                          <a:srgbClr val="FFFFFF"/>
                        </a:solidFill>
                        <a:latin typeface="Arial"/>
                      </a:defRPr>
                    </a:pPr>
                    <a:r>
                      <a:rPr lang="en-US" dirty="0"/>
                      <a:t>74.4%</a:t>
                    </a:r>
                  </a:p>
                </c:rich>
              </c:tx>
              <c:numFmt formatCode="0&quot;%&quot;" sourceLinked="0"/>
              <c:spPr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DEF-428D-8480-8996D6CCB7F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pPr>
                      <a:defRPr sz="1300" b="1" i="0" u="none" strike="noStrike">
                        <a:solidFill>
                          <a:srgbClr val="3D0F63"/>
                        </a:solidFill>
                        <a:latin typeface="Arial"/>
                      </a:defRPr>
                    </a:pPr>
                    <a:r>
                      <a:rPr lang="en-US" dirty="0"/>
                      <a:t>25.6%</a:t>
                    </a:r>
                  </a:p>
                </c:rich>
              </c:tx>
              <c:numFmt formatCode="0&quot;%&quot;" sourceLinked="0"/>
              <c:spPr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DEF-428D-8480-8996D6CCB7F2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Movies</c:v>
                </c:pt>
                <c:pt idx="1">
                  <c:v>Series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74.400000000000006</c:v>
                </c:pt>
                <c:pt idx="1">
                  <c:v>25.6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DEF-428D-8480-8996D6CCB7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chemeClr val="bg1">
                  <a:lumMod val="95000"/>
                </a:schemeClr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400" b="0" i="0" u="none" strike="noStrike" dirty="0">
                <a:solidFill>
                  <a:schemeClr val="bg1"/>
                </a:solidFill>
                <a:latin typeface="Arial"/>
              </a:rPr>
              <a:t>Share of Watch Hours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Watch Hours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030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059-4915-8E0C-0FE4AAA0A591}"/>
              </c:ext>
            </c:extLst>
          </c:dPt>
          <c:dPt>
            <c:idx val="1"/>
            <c:bubble3D val="0"/>
            <c:spPr>
              <a:solidFill>
                <a:schemeClr val="bg1">
                  <a:lumMod val="95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059-4915-8E0C-0FE4AAA0A591}"/>
              </c:ext>
            </c:extLst>
          </c:dPt>
          <c:dLbls>
            <c:dLbl>
              <c:idx val="0"/>
              <c:layout>
                <c:manualLayout>
                  <c:x val="6.4599483204134363E-3"/>
                  <c:y val="0"/>
                </c:manualLayout>
              </c:layout>
              <c:tx>
                <c:rich>
                  <a:bodyPr/>
                  <a:lstStyle/>
                  <a:p>
                    <a:pPr>
                      <a:defRPr sz="1300" b="1" i="0" u="none" strike="noStrike">
                        <a:solidFill>
                          <a:srgbClr val="FFFFFF"/>
                        </a:solidFill>
                        <a:latin typeface="Arial"/>
                      </a:defRPr>
                    </a:pPr>
                    <a:r>
                      <a:rPr lang="en-US" dirty="0"/>
                      <a:t>28.9%</a:t>
                    </a:r>
                  </a:p>
                </c:rich>
              </c:tx>
              <c:numFmt formatCode="0&quot;%&quot;" sourceLinked="0"/>
              <c:spPr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059-4915-8E0C-0FE4AAA0A591}"/>
                </c:ext>
              </c:extLst>
            </c:dLbl>
            <c:dLbl>
              <c:idx val="1"/>
              <c:layout>
                <c:manualLayout>
                  <c:x val="-1.6149870801033622E-2"/>
                  <c:y val="-3.8652765468410649E-2"/>
                </c:manualLayout>
              </c:layout>
              <c:tx>
                <c:rich>
                  <a:bodyPr/>
                  <a:lstStyle/>
                  <a:p>
                    <a:pPr>
                      <a:defRPr sz="1300" b="1" i="0" u="none" strike="noStrike">
                        <a:solidFill>
                          <a:srgbClr val="3D0F63"/>
                        </a:solidFill>
                        <a:latin typeface="Arial"/>
                      </a:defRPr>
                    </a:pPr>
                    <a:r>
                      <a:rPr lang="en-US" dirty="0"/>
                      <a:t>71.1%</a:t>
                    </a:r>
                  </a:p>
                </c:rich>
              </c:tx>
              <c:numFmt formatCode="0&quot;%&quot;" sourceLinked="0"/>
              <c:spPr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6824935400516797"/>
                      <c:h val="6.9381714015797111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3-B059-4915-8E0C-0FE4AAA0A591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Movies</c:v>
                </c:pt>
                <c:pt idx="1">
                  <c:v>Series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28.9</c:v>
                </c:pt>
                <c:pt idx="1">
                  <c:v>71.099999999999994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059-4915-8E0C-0FE4AAA0A5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chemeClr val="bg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Watch Hours</c:v>
                </c:pt>
              </c:strCache>
            </c:strRef>
          </c:tx>
          <c:spPr>
            <a:solidFill>
              <a:srgbClr val="FF2D6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23194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The Jetsons &amp; WWE</c:v>
                </c:pt>
                <c:pt idx="1">
                  <c:v>Inside</c:v>
                </c:pt>
                <c:pt idx="2">
                  <c:v>Adventures of Petey &amp; Friends</c:v>
                </c:pt>
                <c:pt idx="3">
                  <c:v>Rings</c:v>
                </c:pt>
                <c:pt idx="4">
                  <c:v>Collateral Beauty</c:v>
                </c:pt>
                <c:pt idx="5">
                  <c:v>The Mermaid Princess</c:v>
                </c:pt>
                <c:pt idx="6">
                  <c:v>Baywatch</c:v>
                </c:pt>
                <c:pt idx="7">
                  <c:v>Trolls</c:v>
                </c:pt>
                <c:pt idx="8">
                  <c:v>Moana</c:v>
                </c:pt>
                <c:pt idx="9">
                  <c:v>The Boss Baby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167</c:v>
                </c:pt>
                <c:pt idx="1">
                  <c:v>294</c:v>
                </c:pt>
                <c:pt idx="2">
                  <c:v>297</c:v>
                </c:pt>
                <c:pt idx="3">
                  <c:v>349</c:v>
                </c:pt>
                <c:pt idx="4">
                  <c:v>400</c:v>
                </c:pt>
                <c:pt idx="5">
                  <c:v>503</c:v>
                </c:pt>
                <c:pt idx="6">
                  <c:v>549</c:v>
                </c:pt>
                <c:pt idx="7">
                  <c:v>1601</c:v>
                </c:pt>
                <c:pt idx="8">
                  <c:v>1706</c:v>
                </c:pt>
                <c:pt idx="9">
                  <c:v>2961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D6-4814-9684-542BFF60E3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319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Movies</c:v>
                </c:pt>
              </c:strCache>
            </c:strRef>
          </c:tx>
          <c:spPr>
            <a:solidFill>
              <a:srgbClr val="3D0F63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>
                        <a:solidFill>
                          <a:schemeClr val="bg1"/>
                        </a:solidFill>
                      </a:rPr>
                      <a:t>10K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AEC5-485C-9A29-CCF7EEF5F9B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6K</a:t>
                    </a:r>
                    <a:endParaRPr lang="en-US" dirty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A68-4FB4-B7E5-432B74C6A850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HD</c:v>
                </c:pt>
                <c:pt idx="1">
                  <c:v>SD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CF-4941-BBF0-496DCDB814A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AEC5-485C-9A29-CCF7EEF5F9B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EC5-485C-9A29-CCF7EEF5F9B5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2K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AEC5-485C-9A29-CCF7EEF5F9B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3K</a:t>
                    </a:r>
                    <a:endParaRPr lang="en-US" dirty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AEC5-485C-9A29-CCF7EEF5F9B5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HD</c:v>
                </c:pt>
                <c:pt idx="1">
                  <c:v>SD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4CF-4941-BBF0-496DCDB814A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Movies</c:v>
                </c:pt>
              </c:strCache>
            </c:strRef>
          </c:tx>
          <c:spPr>
            <a:solidFill>
              <a:srgbClr val="3D0F63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197" b="0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/>
                      <a:t>331K</a:t>
                    </a:r>
                  </a:p>
                </c:rich>
              </c:tx>
              <c:numFmt formatCode="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97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9ECC-46F3-AE62-53682EC54B4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156K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EF6-4FA7-AE92-8D21738E5C64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HD</c:v>
                </c:pt>
                <c:pt idx="1">
                  <c:v>SD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331</c:v>
                </c:pt>
                <c:pt idx="1">
                  <c:v>156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ECC-46F3-AE62-53682EC54B4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ECC-46F3-AE62-53682EC54B4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ECC-46F3-AE62-53682EC54B42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73K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ECC-46F3-AE62-53682EC54B4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486K</a:t>
                    </a:r>
                    <a:endParaRPr lang="en-US" dirty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9ECC-46F3-AE62-53682EC54B42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rgbClr val="3D0F6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HD</c:v>
                </c:pt>
                <c:pt idx="1">
                  <c:v>SD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73</c:v>
                </c:pt>
                <c:pt idx="1">
                  <c:v>486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ECC-46F3-AE62-53682EC54B4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38100" cap="flat">
              <a:solidFill>
                <a:srgbClr val="2B457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B4570"/>
              </a:solidFill>
              <a:ln w="9525" cap="flat">
                <a:solidFill>
                  <a:srgbClr val="2B4570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866.6</c:v>
                </c:pt>
                <c:pt idx="1">
                  <c:v>823.5</c:v>
                </c:pt>
                <c:pt idx="2">
                  <c:v>754.6</c:v>
                </c:pt>
                <c:pt idx="3">
                  <c:v>673.7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9CC-4E1D-9D02-1853E98DB5C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spPr>
            <a:ln w="38100" cap="flat">
              <a:solidFill>
                <a:srgbClr val="FF2D6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2D6C"/>
              </a:solidFill>
              <a:ln w="9525" cap="flat">
                <a:solidFill>
                  <a:srgbClr val="FF6B4A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3">
                  <c:v>677.3</c:v>
                </c:pt>
                <c:pt idx="4">
                  <c:v>607.4</c:v>
                </c:pt>
                <c:pt idx="5">
                  <c:v>538.1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9CC-4E1D-9D02-1853E98DB5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7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F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5B6B7F"/>
                    </a:solidFill>
                    <a:latin typeface="Arial"/>
                  </a:rPr>
                  <a:t>Avg. hours / day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4472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0F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457200" y="274320"/>
            <a:ext cx="3108960" cy="1463040"/>
          </a:xfrm>
          <a:prstGeom prst="line">
            <a:avLst/>
          </a:prstGeom>
          <a:noFill/>
          <a:ln w="17780">
            <a:solidFill>
              <a:srgbClr val="5A2E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377440" y="594360"/>
            <a:ext cx="3108960" cy="731520"/>
          </a:xfrm>
          <a:prstGeom prst="line">
            <a:avLst/>
          </a:prstGeom>
          <a:noFill/>
          <a:ln w="17780">
            <a:solidFill>
              <a:srgbClr val="5A2E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flipV="1">
            <a:off x="4297680" y="914400"/>
            <a:ext cx="3108960" cy="1463040"/>
          </a:xfrm>
          <a:prstGeom prst="line">
            <a:avLst/>
          </a:prstGeom>
          <a:noFill/>
          <a:ln w="17780">
            <a:solidFill>
              <a:srgbClr val="5A2E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217920" y="274320"/>
            <a:ext cx="3108960" cy="731520"/>
          </a:xfrm>
          <a:prstGeom prst="line">
            <a:avLst/>
          </a:prstGeom>
          <a:noFill/>
          <a:ln w="17780">
            <a:solidFill>
              <a:srgbClr val="5A2E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flipV="1">
            <a:off x="8138160" y="594360"/>
            <a:ext cx="3108960" cy="1463040"/>
          </a:xfrm>
          <a:prstGeom prst="line">
            <a:avLst/>
          </a:prstGeom>
          <a:noFill/>
          <a:ln w="17780">
            <a:solidFill>
              <a:srgbClr val="5A2E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058400" y="914400"/>
            <a:ext cx="3108960" cy="731520"/>
          </a:xfrm>
          <a:prstGeom prst="line">
            <a:avLst/>
          </a:prstGeom>
          <a:noFill/>
          <a:ln w="17780">
            <a:solidFill>
              <a:srgbClr val="5A2E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548640"/>
            <a:ext cx="82296" cy="82296"/>
          </a:xfrm>
          <a:prstGeom prst="ellipse">
            <a:avLst/>
          </a:prstGeom>
          <a:solidFill>
            <a:srgbClr val="8B5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82296" cy="82296"/>
          </a:xfrm>
          <a:prstGeom prst="ellipse">
            <a:avLst/>
          </a:prstGeom>
          <a:solidFill>
            <a:srgbClr val="8B5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852160" y="457200"/>
            <a:ext cx="82296" cy="82296"/>
          </a:xfrm>
          <a:prstGeom prst="ellipse">
            <a:avLst/>
          </a:prstGeom>
          <a:solidFill>
            <a:srgbClr val="8B5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321040" y="1737360"/>
            <a:ext cx="82296" cy="82296"/>
          </a:xfrm>
          <a:prstGeom prst="ellipse">
            <a:avLst/>
          </a:prstGeom>
          <a:solidFill>
            <a:srgbClr val="8B5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424160" y="731520"/>
            <a:ext cx="82296" cy="82296"/>
          </a:xfrm>
          <a:prstGeom prst="ellipse">
            <a:avLst/>
          </a:prstGeom>
          <a:solidFill>
            <a:srgbClr val="8B5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194560" y="2194560"/>
            <a:ext cx="82296" cy="82296"/>
          </a:xfrm>
          <a:prstGeom prst="ellipse">
            <a:avLst/>
          </a:prstGeom>
          <a:solidFill>
            <a:srgbClr val="8B5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0" y="2377440"/>
            <a:ext cx="82296" cy="82296"/>
          </a:xfrm>
          <a:prstGeom prst="ellipse">
            <a:avLst/>
          </a:prstGeom>
          <a:solidFill>
            <a:srgbClr val="8B5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0" y="2880360"/>
            <a:ext cx="12188952" cy="1417320"/>
          </a:xfrm>
          <a:prstGeom prst="rect">
            <a:avLst/>
          </a:prstGeom>
          <a:solidFill>
            <a:srgbClr val="270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0" y="2880360"/>
            <a:ext cx="457200" cy="1417320"/>
          </a:xfrm>
          <a:prstGeom prst="rect">
            <a:avLst/>
          </a:prstGeom>
          <a:solidFill>
            <a:srgbClr val="FF2D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2971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STC TV Data Analysis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77240" y="36118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8C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 Insights, Forecasting &amp; Recommendations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46634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2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Turki </a:t>
            </a:r>
            <a:r>
              <a:rPr lang="en-US" sz="2000" b="1" dirty="0" err="1">
                <a:solidFill>
                  <a:srgbClr val="FF2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Almuayli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7724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B9A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Misk Virtual Work Experience - Data Analysis at STC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D0F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1051560"/>
          </a:xfrm>
          <a:prstGeom prst="rect">
            <a:avLst/>
          </a:prstGeom>
          <a:solidFill>
            <a:srgbClr val="FF2D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Understanding Viewer Behavior: Movies vs. Series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11018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how many people watch movies versus series, and how many total hours each actually generates, shows where stc tv's real engagement comes from.</a:t>
            </a:r>
            <a:endParaRPr lang="en-US" sz="1250" b="1" dirty="0"/>
          </a:p>
        </p:txBody>
      </p:sp>
      <p:sp>
        <p:nvSpPr>
          <p:cNvPr id="6" name="Shape 4"/>
          <p:cNvSpPr/>
          <p:nvPr/>
        </p:nvSpPr>
        <p:spPr>
          <a:xfrm>
            <a:off x="594360" y="1764632"/>
            <a:ext cx="11018520" cy="3401728"/>
          </a:xfrm>
          <a:prstGeom prst="roundRect">
            <a:avLst>
              <a:gd name="adj" fmla="val 1515"/>
            </a:avLst>
          </a:prstGeom>
          <a:solidFill>
            <a:srgbClr val="FF2D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07176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compared the share of unique viewers against the share of total watch hours contributed by movies versus series, across the full viewing log.</a:t>
            </a:r>
            <a:endParaRPr lang="en-US" sz="1600" b="1" dirty="0"/>
          </a:p>
        </p:txBody>
      </p:sp>
      <p:pic>
        <p:nvPicPr>
          <p:cNvPr id="20" name="Image 0" descr="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480560"/>
            <a:ext cx="365760" cy="3657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371600" y="45262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11,355 movie viewers  ·  3,901 series viewers  ·  1,048,575 total watch events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94360" y="5394960"/>
            <a:ext cx="11018520" cy="1051560"/>
          </a:xfrm>
          <a:prstGeom prst="roundRect">
            <a:avLst>
              <a:gd name="adj" fmla="val 5217"/>
            </a:avLst>
          </a:prstGeom>
          <a:solidFill>
            <a:srgbClr val="3D0F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68680" y="5559552"/>
            <a:ext cx="10469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2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conclude: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68680" y="5925312"/>
            <a:ext cx="10469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attract about a third of the audience movies do, yet generate 2.5x the total watch hours, a small but deeply engaged group.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94360" y="65653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stc tv Viewer Insights   •   1</a:t>
            </a:r>
            <a:endParaRPr lang="en-US" sz="900" dirty="0"/>
          </a:p>
        </p:txBody>
      </p:sp>
      <p:graphicFrame>
        <p:nvGraphicFramePr>
          <p:cNvPr id="27" name="Chart 0">
            <a:extLst>
              <a:ext uri="{FF2B5EF4-FFF2-40B4-BE49-F238E27FC236}">
                <a16:creationId xmlns:a16="http://schemas.microsoft.com/office/drawing/2014/main" id="{76E4F73A-3308-804C-2CC4-A8CD456FBF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4017195"/>
              </p:ext>
            </p:extLst>
          </p:nvPr>
        </p:nvGraphicFramePr>
        <p:xfrm>
          <a:off x="5090160" y="1897380"/>
          <a:ext cx="3931920" cy="32689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9" name="Chart 1">
            <a:extLst>
              <a:ext uri="{FF2B5EF4-FFF2-40B4-BE49-F238E27FC236}">
                <a16:creationId xmlns:a16="http://schemas.microsoft.com/office/drawing/2014/main" id="{31882C40-6564-A9C5-83E3-1EAAAC12E1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7736850"/>
              </p:ext>
            </p:extLst>
          </p:nvPr>
        </p:nvGraphicFramePr>
        <p:xfrm>
          <a:off x="7955280" y="1880696"/>
          <a:ext cx="3931920" cy="32856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D0F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1051560"/>
          </a:xfrm>
          <a:prstGeom prst="rect">
            <a:avLst/>
          </a:prstGeom>
          <a:solidFill>
            <a:srgbClr val="FF2D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Viewers Watch Most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11018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programs by total watch hours highlights which titles drive the most reach on stc tv, and what kind of content to prioritize on the home screen.</a:t>
            </a:r>
            <a:endParaRPr lang="en-US" sz="1300" b="1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984350335"/>
              </p:ext>
            </p:extLst>
          </p:nvPr>
        </p:nvGraphicFramePr>
        <p:xfrm>
          <a:off x="457200" y="1700463"/>
          <a:ext cx="11247120" cy="35156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5468112"/>
            <a:ext cx="11018520" cy="960120"/>
          </a:xfrm>
          <a:prstGeom prst="roundRect">
            <a:avLst>
              <a:gd name="adj" fmla="val 5714"/>
            </a:avLst>
          </a:prstGeom>
          <a:solidFill>
            <a:srgbClr val="3D0F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8680" y="5632704"/>
            <a:ext cx="10469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2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conclude: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5949295"/>
            <a:ext cx="10469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family films dominate most of the top 10. The Boss Baby leads with more total </a:t>
            </a: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hours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runner-up Moana.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" y="65653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stc tv Viewer Insights   •  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D0F6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1051560"/>
          </a:xfrm>
          <a:prstGeom prst="rect">
            <a:avLst/>
          </a:prstGeom>
          <a:solidFill>
            <a:srgbClr val="FF2D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Studying Viewer Behavior: HD vs. SD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11018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viewing patterns by streaming quality (HD vs. SD) matters for stc, since it reflects how reliable and strong customers' connections are.</a:t>
            </a:r>
            <a:endParaRPr lang="en-US" sz="1300" b="1" dirty="0"/>
          </a:p>
        </p:txBody>
      </p:sp>
      <p:sp>
        <p:nvSpPr>
          <p:cNvPr id="6" name="Shape 4"/>
          <p:cNvSpPr/>
          <p:nvPr/>
        </p:nvSpPr>
        <p:spPr>
          <a:xfrm>
            <a:off x="594360" y="1722762"/>
            <a:ext cx="11018520" cy="3443598"/>
          </a:xfrm>
          <a:prstGeom prst="roundRect">
            <a:avLst>
              <a:gd name="adj" fmla="val 1515"/>
            </a:avLst>
          </a:prstGeom>
          <a:solidFill>
            <a:srgbClr val="FF2D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594360" y="5394960"/>
            <a:ext cx="11018520" cy="1051560"/>
          </a:xfrm>
          <a:prstGeom prst="roundRect">
            <a:avLst>
              <a:gd name="adj" fmla="val 5217"/>
            </a:avLst>
          </a:prstGeom>
          <a:solidFill>
            <a:srgbClr val="3D0F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868678" y="5559552"/>
            <a:ext cx="1046988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2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conclude: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1005838" y="5866362"/>
            <a:ext cx="10469881" cy="4836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watches lean heavily towards SD, while movie watches lean toward HD likely reflecting data conservation habits during binge watching, or limited HD availability for series content.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94360" y="65653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stc tv Viewer Insights   •   3</a:t>
            </a:r>
            <a:endParaRPr lang="en-US" sz="900" dirty="0"/>
          </a:p>
        </p:txBody>
      </p:sp>
      <p:graphicFrame>
        <p:nvGraphicFramePr>
          <p:cNvPr id="27" name="Chart 0">
            <a:extLst>
              <a:ext uri="{FF2B5EF4-FFF2-40B4-BE49-F238E27FC236}">
                <a16:creationId xmlns:a16="http://schemas.microsoft.com/office/drawing/2014/main" id="{2C9A2932-D4D7-EF36-5237-687A0967F8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3723571"/>
              </p:ext>
            </p:extLst>
          </p:nvPr>
        </p:nvGraphicFramePr>
        <p:xfrm>
          <a:off x="6303522" y="1883485"/>
          <a:ext cx="5263637" cy="3282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0">
            <a:extLst>
              <a:ext uri="{FF2B5EF4-FFF2-40B4-BE49-F238E27FC236}">
                <a16:creationId xmlns:a16="http://schemas.microsoft.com/office/drawing/2014/main" id="{5D988018-EA55-F382-2B8C-30711E7B95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1577807"/>
              </p:ext>
            </p:extLst>
          </p:nvPr>
        </p:nvGraphicFramePr>
        <p:xfrm>
          <a:off x="624842" y="1838528"/>
          <a:ext cx="5263637" cy="33278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AB63F1E-C638-9F7B-ECBE-D1DB02CCB587}"/>
              </a:ext>
            </a:extLst>
          </p:cNvPr>
          <p:cNvSpPr txBox="1"/>
          <p:nvPr/>
        </p:nvSpPr>
        <p:spPr>
          <a:xfrm>
            <a:off x="2648924" y="1877219"/>
            <a:ext cx="1215472" cy="307777"/>
          </a:xfrm>
          <a:prstGeom prst="rect">
            <a:avLst/>
          </a:prstGeom>
          <a:solidFill>
            <a:srgbClr val="FF2D6C"/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Watches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414A51-AE9A-F125-D110-08DDEF63C930}"/>
              </a:ext>
            </a:extLst>
          </p:cNvPr>
          <p:cNvSpPr txBox="1"/>
          <p:nvPr/>
        </p:nvSpPr>
        <p:spPr>
          <a:xfrm>
            <a:off x="8327603" y="1883485"/>
            <a:ext cx="1419511" cy="307777"/>
          </a:xfrm>
          <a:prstGeom prst="rect">
            <a:avLst/>
          </a:prstGeom>
          <a:solidFill>
            <a:srgbClr val="FF2D6C"/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Viewers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D0F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1051560"/>
          </a:xfrm>
          <a:prstGeom prst="rect">
            <a:avLst/>
          </a:prstGeom>
          <a:solidFill>
            <a:srgbClr val="FF2D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Forecasting Viewer Behavior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11018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daily watch hours actuals vs Forecast</a:t>
            </a:r>
            <a:endParaRPr lang="en-US" sz="1300" b="1" dirty="0"/>
          </a:p>
        </p:txBody>
      </p:sp>
      <p:sp>
        <p:nvSpPr>
          <p:cNvPr id="7" name="Shape 4"/>
          <p:cNvSpPr/>
          <p:nvPr/>
        </p:nvSpPr>
        <p:spPr>
          <a:xfrm>
            <a:off x="8503920" y="2103120"/>
            <a:ext cx="3108960" cy="4279392"/>
          </a:xfrm>
          <a:prstGeom prst="roundRect">
            <a:avLst>
              <a:gd name="adj" fmla="val 1765"/>
            </a:avLst>
          </a:prstGeom>
          <a:solidFill>
            <a:srgbClr val="3D0F63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8" name="Image 1" descr="icons/trenddown_p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2026" y="2785471"/>
            <a:ext cx="772748" cy="7727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61120" y="3846255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declining trend in total expected watch hours for stc tv viewers.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8641080" y="5556183"/>
            <a:ext cx="2834640" cy="0"/>
          </a:xfrm>
          <a:prstGeom prst="line">
            <a:avLst/>
          </a:prstGeom>
          <a:noFill/>
          <a:ln w="12700">
            <a:solidFill>
              <a:srgbClr val="5A2E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8778240" y="34015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94360" y="65653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stc tv Viewer Insights   •   4</a:t>
            </a:r>
            <a:endParaRPr lang="en-US" sz="900" dirty="0"/>
          </a:p>
        </p:txBody>
      </p:sp>
      <p:graphicFrame>
        <p:nvGraphicFramePr>
          <p:cNvPr id="15" name="Chart 0">
            <a:extLst>
              <a:ext uri="{FF2B5EF4-FFF2-40B4-BE49-F238E27FC236}">
                <a16:creationId xmlns:a16="http://schemas.microsoft.com/office/drawing/2014/main" id="{8AA411DA-00C8-31DD-9C28-9D0916D200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9288392"/>
              </p:ext>
            </p:extLst>
          </p:nvPr>
        </p:nvGraphicFramePr>
        <p:xfrm>
          <a:off x="716280" y="1876926"/>
          <a:ext cx="7240604" cy="45055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D0F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1051560"/>
          </a:xfrm>
          <a:prstGeom prst="rect">
            <a:avLst/>
          </a:prstGeom>
          <a:solidFill>
            <a:srgbClr val="FF2D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Delivering Recommendations with Machine Learning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11018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can be built from users past viewing behavior, or from the content itself (programs with similar characteristics).</a:t>
            </a:r>
            <a:endParaRPr lang="en-US" sz="1300" b="1" dirty="0"/>
          </a:p>
        </p:txBody>
      </p:sp>
      <p:sp>
        <p:nvSpPr>
          <p:cNvPr id="6" name="Shape 4"/>
          <p:cNvSpPr/>
          <p:nvPr/>
        </p:nvSpPr>
        <p:spPr>
          <a:xfrm>
            <a:off x="5532120" y="1965960"/>
            <a:ext cx="5989320" cy="4406848"/>
          </a:xfrm>
          <a:prstGeom prst="roundRect">
            <a:avLst>
              <a:gd name="adj" fmla="val 2637"/>
            </a:avLst>
          </a:prstGeom>
          <a:solidFill>
            <a:srgbClr val="270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896947" y="2130552"/>
            <a:ext cx="5459901" cy="3831336"/>
          </a:xfrm>
          <a:prstGeom prst="roundRect">
            <a:avLst>
              <a:gd name="adj" fmla="val 1432"/>
            </a:avLst>
          </a:prstGeom>
          <a:solidFill>
            <a:srgbClr val="F7F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96000" y="2331720"/>
            <a:ext cx="5059680" cy="1600200"/>
          </a:xfrm>
          <a:prstGeom prst="roundRect">
            <a:avLst>
              <a:gd name="adj" fmla="val 3429"/>
            </a:avLst>
          </a:prstGeom>
          <a:solidFill>
            <a:srgbClr val="3D0F6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icons/pla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927" y="2753226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269480" y="2514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C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Watching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269480" y="2834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Moana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492240" y="4114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0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 you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70007" y="4530479"/>
            <a:ext cx="960120" cy="1234440"/>
          </a:xfrm>
          <a:prstGeom prst="roundRect">
            <a:avLst>
              <a:gd name="adj" fmla="val 4762"/>
            </a:avLst>
          </a:prstGeom>
          <a:solidFill>
            <a:srgbClr val="FF2D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icons/film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4907" y="4691059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110817" y="5039464"/>
            <a:ext cx="868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Trolls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7116657" y="4545314"/>
            <a:ext cx="960120" cy="1234440"/>
          </a:xfrm>
          <a:prstGeom prst="roundRect">
            <a:avLst>
              <a:gd name="adj" fmla="val 4762"/>
            </a:avLst>
          </a:prstGeom>
          <a:solidFill>
            <a:srgbClr val="3D0F6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icons/film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0413" y="4699643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194719" y="5047488"/>
            <a:ext cx="868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Surf's Up:</a:t>
            </a:r>
            <a:endParaRPr lang="en-US" sz="9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WaveMania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161020" y="4530853"/>
            <a:ext cx="960120" cy="1248901"/>
          </a:xfrm>
          <a:prstGeom prst="roundRect">
            <a:avLst>
              <a:gd name="adj" fmla="val 4762"/>
            </a:avLst>
          </a:prstGeom>
          <a:solidFill>
            <a:srgbClr val="5A2E8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icons/film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4776" y="4678369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11545" y="5066990"/>
            <a:ext cx="868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Mermaid</a:t>
            </a:r>
            <a:endParaRPr lang="en-US" sz="9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Princess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9217152" y="4537896"/>
            <a:ext cx="960120" cy="1234440"/>
          </a:xfrm>
          <a:prstGeom prst="roundRect">
            <a:avLst>
              <a:gd name="adj" fmla="val 4762"/>
            </a:avLst>
          </a:prstGeom>
          <a:solidFill>
            <a:srgbClr val="FF6D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icons/film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5839" y="4678369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262872" y="5054579"/>
            <a:ext cx="868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Boss Baby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594360" y="4206239"/>
            <a:ext cx="4754880" cy="2166569"/>
          </a:xfrm>
          <a:prstGeom prst="roundRect">
            <a:avLst>
              <a:gd name="adj" fmla="val 2791"/>
            </a:avLst>
          </a:prstGeom>
          <a:solidFill>
            <a:srgbClr val="3D0F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0"/>
          <p:cNvSpPr/>
          <p:nvPr/>
        </p:nvSpPr>
        <p:spPr>
          <a:xfrm>
            <a:off x="868680" y="437083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2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conclude: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868680" y="4678369"/>
            <a:ext cx="4370367" cy="15451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 who watched Moana were recommended Trolls, Surf's Up, The Mermaid Princess, The Boss Baby, and Storks.</a:t>
            </a:r>
            <a:endParaRPr lang="en-US" sz="120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were animated family titles, even though the model was never told the genre, a strong sign the recommendations reflect real shared taste.</a:t>
            </a:r>
            <a:endParaRPr lang="en-US" sz="120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can help viewers discover films they're likely to enjoy, increasing time spent on stc tv.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94360" y="65653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 err="1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stc</a:t>
            </a: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tv Viewer Insights   •   5</a:t>
            </a:r>
            <a:endParaRPr lang="en-US" sz="900" dirty="0"/>
          </a:p>
        </p:txBody>
      </p:sp>
      <p:sp>
        <p:nvSpPr>
          <p:cNvPr id="31" name="Shape 19">
            <a:extLst>
              <a:ext uri="{FF2B5EF4-FFF2-40B4-BE49-F238E27FC236}">
                <a16:creationId xmlns:a16="http://schemas.microsoft.com/office/drawing/2014/main" id="{A4E6C7CC-9C86-1202-9B14-0C9B9C1DE3A3}"/>
              </a:ext>
            </a:extLst>
          </p:cNvPr>
          <p:cNvSpPr/>
          <p:nvPr/>
        </p:nvSpPr>
        <p:spPr>
          <a:xfrm>
            <a:off x="594360" y="1986013"/>
            <a:ext cx="4754880" cy="1965960"/>
          </a:xfrm>
          <a:prstGeom prst="roundRect">
            <a:avLst>
              <a:gd name="adj" fmla="val 2791"/>
            </a:avLst>
          </a:prstGeom>
          <a:solidFill>
            <a:srgbClr val="FF2D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88FC59-A52A-02BA-4297-BDE4AF06A757}"/>
              </a:ext>
            </a:extLst>
          </p:cNvPr>
          <p:cNvSpPr txBox="1"/>
          <p:nvPr/>
        </p:nvSpPr>
        <p:spPr>
          <a:xfrm>
            <a:off x="729996" y="2404872"/>
            <a:ext cx="44180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</a:t>
            </a: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using each viewer's past watch history, comparing it against others with similar taste, and cross-checked the results against content similarity.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F0B3A192-0C0F-85F4-45CF-5F2A3048FAFE}"/>
              </a:ext>
            </a:extLst>
          </p:cNvPr>
          <p:cNvSpPr/>
          <p:nvPr/>
        </p:nvSpPr>
        <p:spPr>
          <a:xfrm>
            <a:off x="10287000" y="4545314"/>
            <a:ext cx="960120" cy="1234440"/>
          </a:xfrm>
          <a:prstGeom prst="roundRect">
            <a:avLst>
              <a:gd name="adj" fmla="val 4762"/>
            </a:avLst>
          </a:prstGeom>
          <a:solidFill>
            <a:srgbClr val="3D0F6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4" descr="icons/film_white.png">
            <a:extLst>
              <a:ext uri="{FF2B5EF4-FFF2-40B4-BE49-F238E27FC236}">
                <a16:creationId xmlns:a16="http://schemas.microsoft.com/office/drawing/2014/main" id="{D1FDF284-4329-0520-490E-1378A4146D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0756" y="4681728"/>
            <a:ext cx="292608" cy="292608"/>
          </a:xfrm>
          <a:prstGeom prst="rect">
            <a:avLst/>
          </a:prstGeom>
        </p:spPr>
      </p:pic>
      <p:sp>
        <p:nvSpPr>
          <p:cNvPr id="41" name="Text 17">
            <a:extLst>
              <a:ext uri="{FF2B5EF4-FFF2-40B4-BE49-F238E27FC236}">
                <a16:creationId xmlns:a16="http://schemas.microsoft.com/office/drawing/2014/main" id="{F23CC040-4385-27D6-4B13-6313B792F01D}"/>
              </a:ext>
            </a:extLst>
          </p:cNvPr>
          <p:cNvSpPr/>
          <p:nvPr/>
        </p:nvSpPr>
        <p:spPr>
          <a:xfrm>
            <a:off x="10335193" y="5039464"/>
            <a:ext cx="868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Storks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0F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2D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05840" y="27432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0584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B9A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Misk Virtual Work Experience - Data Analysis at STC</a:t>
            </a:r>
            <a:endParaRPr 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42ED63-271F-0FA6-B25E-48F55F077F3E}"/>
              </a:ext>
            </a:extLst>
          </p:cNvPr>
          <p:cNvSpPr txBox="1"/>
          <p:nvPr/>
        </p:nvSpPr>
        <p:spPr>
          <a:xfrm>
            <a:off x="1126672" y="3629055"/>
            <a:ext cx="60975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2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Turki </a:t>
            </a:r>
            <a:r>
              <a:rPr lang="en-US" sz="2000" b="1" dirty="0" err="1">
                <a:solidFill>
                  <a:srgbClr val="FF2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Almuayli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501</Words>
  <Application>Microsoft Office PowerPoint</Application>
  <PresentationFormat>Widescreen</PresentationFormat>
  <Paragraphs>70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stc tv task 4</dc:title>
  <dc:creator>Turki</dc:creator>
  <cp:lastModifiedBy>stray Turki</cp:lastModifiedBy>
  <cp:revision>3</cp:revision>
  <dcterms:created xsi:type="dcterms:W3CDTF">2026-08-23T11:05:05Z</dcterms:created>
  <dcterms:modified xsi:type="dcterms:W3CDTF">2026-08-24T10:51:28Z</dcterms:modified>
</cp:coreProperties>
</file>